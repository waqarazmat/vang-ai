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Vangst brand system, version one. The mark, the palette, the type, the voice, and how it all shows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words. Every copy and design decision has to pass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hands and a V. Vangst means the catch. Nothing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approved lockups. Horizontal is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approved colorways. Cream is the default wherever we own the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grounds on the left, the five things we never do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colors, with print values. Coral is an accent and a surface, never body 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Seventy percent cream. If a layout feels cold, add cream, not coral.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Newsreader for headings and the wordmark, Work Sans for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working scale. Headings are always sentence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message, two registers. The right column is always the one we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vocabulary list and the mechanics. No long dashes, sentence case, Oxford comma, no emoji.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icon keeps the cream tile at every size. Under 24px, ship the single-tone coral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avatars and the card. 85 by 55mm, uncoated warm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rule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0912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VANGST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13984" y="914400"/>
            <a:ext cx="29774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SYSTEM, V1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76698" y="914400"/>
            <a:ext cx="26051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77332"/>
            <a:ext cx="2857500" cy="31800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62500" y="3202781"/>
            <a:ext cx="13620750" cy="184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1032"/>
              </a:lnSpc>
              <a:buNone/>
            </a:pPr>
            <a:r>
              <a:rPr lang="en-US" sz="16500" b="1" spc="-495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Vangst</a:t>
            </a:r>
            <a:endParaRPr lang="en-US" sz="16500" dirty="0"/>
          </a:p>
        </p:txBody>
      </p:sp>
      <p:sp>
        <p:nvSpPr>
          <p:cNvPr id="7" name="Text 4"/>
          <p:cNvSpPr/>
          <p:nvPr/>
        </p:nvSpPr>
        <p:spPr>
          <a:xfrm>
            <a:off x="4762500" y="5309592"/>
            <a:ext cx="576182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i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done-for-you front desk that never misses a customer.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143000" y="8315325"/>
            <a:ext cx="16002000" cy="9525"/>
          </a:xfrm>
          <a:prstGeom prst="rect">
            <a:avLst/>
          </a:prstGeom>
          <a:solidFill>
            <a:srgbClr val="2B2118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8629650"/>
            <a:ext cx="50753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front desk for Belgian SMEs. Phone, WhatsApp, and website chat.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680150" y="8629650"/>
            <a:ext cx="50755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in Dutch, French, and English.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217450" y="8629650"/>
            <a:ext cx="50753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and managed by us. The owner configures nothing.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PERSONALITY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18"/>
              </a:lnSpc>
              <a:buNone/>
            </a:pPr>
            <a:r>
              <a:rPr lang="en-US" sz="7200" b="1" spc="-216" kern="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direct, honest, confident.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322290"/>
            <a:ext cx="3800475" cy="6050310"/>
          </a:xfrm>
          <a:prstGeom prst="roundRect">
            <a:avLst>
              <a:gd name="adj" fmla="val 8020"/>
            </a:avLst>
          </a:prstGeom>
          <a:ln w="9525">
            <a:solidFill>
              <a:srgbClr val="FAEEDA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3712815"/>
            <a:ext cx="34470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33"/>
              </a:lnSpc>
              <a:buNone/>
            </a:pPr>
            <a:r>
              <a:rPr lang="en-US" sz="39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476375" y="4398615"/>
            <a:ext cx="322773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FAEEDA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to a business owner the way a person would, not the way a platform would.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10175" y="3322290"/>
            <a:ext cx="3800475" cy="6050310"/>
          </a:xfrm>
          <a:prstGeom prst="roundRect">
            <a:avLst>
              <a:gd name="adj" fmla="val 8020"/>
            </a:avLst>
          </a:prstGeom>
          <a:ln w="9525">
            <a:solidFill>
              <a:srgbClr val="FAEEDA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43550" y="3712815"/>
            <a:ext cx="34470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33"/>
              </a:lnSpc>
              <a:buNone/>
            </a:pPr>
            <a:r>
              <a:rPr lang="en-US" sz="39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543550" y="4398615"/>
            <a:ext cx="322773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FAEEDA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the thing plainly. No padding, no corporate softening, no jargon.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50" y="3322290"/>
            <a:ext cx="3800475" cy="6050310"/>
          </a:xfrm>
          <a:prstGeom prst="roundRect">
            <a:avLst>
              <a:gd name="adj" fmla="val 8020"/>
            </a:avLst>
          </a:prstGeom>
          <a:ln w="9525">
            <a:solidFill>
              <a:srgbClr val="FAEEDA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0725" y="3712815"/>
            <a:ext cx="34470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33"/>
              </a:lnSpc>
              <a:buNone/>
            </a:pPr>
            <a:r>
              <a:rPr lang="en-US" sz="39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610725" y="4398615"/>
            <a:ext cx="322773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FAEEDA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oversells what the AI can do. Never manufactures urgency.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44525" y="3322290"/>
            <a:ext cx="3800475" cy="6050310"/>
          </a:xfrm>
          <a:prstGeom prst="roundRect">
            <a:avLst>
              <a:gd name="adj" fmla="val 8020"/>
            </a:avLst>
          </a:prstGeom>
          <a:ln w="9525">
            <a:solidFill>
              <a:srgbClr val="FAEEDA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77900" y="3712815"/>
            <a:ext cx="34470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33"/>
              </a:lnSpc>
              <a:buNone/>
            </a:pPr>
            <a:r>
              <a:rPr lang="en-US" sz="39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3677900" y="4398615"/>
            <a:ext cx="322773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FAEEDA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 the product to speak for itself. No exclamation-point energy.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04875"/>
            <a:ext cx="7553325" cy="8477250"/>
          </a:xfrm>
          <a:prstGeom prst="roundRect">
            <a:avLst>
              <a:gd name="adj" fmla="val 4540"/>
            </a:avLst>
          </a:prstGeom>
          <a:solidFill>
            <a:srgbClr val="FFF7EC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787" y="2963466"/>
            <a:ext cx="3917752" cy="4359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10725" y="2237780"/>
            <a:ext cx="82877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MARK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610725" y="2847380"/>
            <a:ext cx="8287703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516"/>
              </a:lnSpc>
              <a:buNone/>
            </a:pPr>
            <a:r>
              <a:rPr lang="en-US" sz="6600" b="1" spc="-198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hands, one V.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9610725" y="4070300"/>
            <a:ext cx="7760303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2B21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 of open hands catching something, and the V of Vangst. Vangst means the catch, what you bring in. That is the promise: nothing dropped, every customer caught.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10725" y="5538788"/>
            <a:ext cx="7760303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2B21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coral and dark split is fixed in the primary mark. It keeps the hands reading as hands instead of a chevron.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10725" y="6784479"/>
            <a:ext cx="15430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SPACE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58575" y="6784479"/>
            <a:ext cx="625506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1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mark height on all four sides.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10725" y="7256859"/>
            <a:ext cx="15430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58575" y="7256859"/>
            <a:ext cx="625506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1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24px on screen, 8mm in print.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10725" y="7729240"/>
            <a:ext cx="15430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58575" y="7729240"/>
            <a:ext cx="625506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1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Upright only. Never rotated or mirrored.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LOCKUPS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676400"/>
            <a:ext cx="5105400" cy="7696200"/>
          </a:xfrm>
          <a:prstGeom prst="roundRect">
            <a:avLst>
              <a:gd name="adj" fmla="val 6716"/>
            </a:avLst>
          </a:prstGeom>
          <a:solidFill>
            <a:srgbClr val="FFF7EC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4872038"/>
            <a:ext cx="941338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9663" y="4967288"/>
            <a:ext cx="269615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66"/>
              </a:lnSpc>
              <a:buNone/>
            </a:pPr>
            <a:r>
              <a:rPr lang="en-US" sz="6750" b="1" spc="-203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Vangst</a:t>
            </a:r>
            <a:endParaRPr lang="en-US" sz="6750" dirty="0"/>
          </a:p>
        </p:txBody>
      </p:sp>
      <p:sp>
        <p:nvSpPr>
          <p:cNvPr id="6" name="Text 3"/>
          <p:cNvSpPr/>
          <p:nvPr/>
        </p:nvSpPr>
        <p:spPr>
          <a:xfrm>
            <a:off x="1571625" y="8572500"/>
            <a:ext cx="46729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HORIZONTAL, PRIMARY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91300" y="1676400"/>
            <a:ext cx="5105400" cy="7696200"/>
          </a:xfrm>
          <a:prstGeom prst="roundRect">
            <a:avLst>
              <a:gd name="adj" fmla="val 6716"/>
            </a:avLst>
          </a:prstGeom>
          <a:solidFill>
            <a:srgbClr val="FFF7EC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818" y="4281488"/>
            <a:ext cx="1198215" cy="1333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63520" y="5824538"/>
            <a:ext cx="215689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87"/>
              </a:lnSpc>
              <a:buNone/>
            </a:pPr>
            <a:r>
              <a:rPr lang="en-US" sz="5400" b="1" spc="-162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Vangst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7019925" y="8572500"/>
            <a:ext cx="46729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STACKED, SQUARE SPACES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2039600" y="1676400"/>
            <a:ext cx="5105400" cy="7696200"/>
          </a:xfrm>
          <a:prstGeom prst="roundRect">
            <a:avLst>
              <a:gd name="adj" fmla="val 6716"/>
            </a:avLst>
          </a:prstGeom>
          <a:solidFill>
            <a:srgbClr val="FFF7EC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225" y="4938713"/>
            <a:ext cx="821531" cy="914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537406" y="4938713"/>
            <a:ext cx="9525" cy="914400"/>
          </a:xfrm>
          <a:prstGeom prst="rect">
            <a:avLst/>
          </a:prstGeom>
          <a:solidFill>
            <a:srgbClr val="2B2118">
              <a:alpha val="25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3794581" y="4957763"/>
            <a:ext cx="30933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Vangst</a:t>
            </a:r>
            <a:endParaRPr lang="en-US" sz="4200" dirty="0"/>
          </a:p>
        </p:txBody>
      </p:sp>
      <p:sp>
        <p:nvSpPr>
          <p:cNvPr id="15" name="Text 10"/>
          <p:cNvSpPr/>
          <p:nvPr/>
        </p:nvSpPr>
        <p:spPr>
          <a:xfrm>
            <a:off x="13794581" y="5586413"/>
            <a:ext cx="30933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Nooit meer een klant gemist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2468225" y="8572500"/>
            <a:ext cx="46729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ENDLINE, NL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COLORWAYS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9700"/>
            <a:ext cx="176022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144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versions, no others.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506861"/>
            <a:ext cx="3771900" cy="5668566"/>
          </a:xfrm>
          <a:prstGeom prst="roundRect">
            <a:avLst>
              <a:gd name="adj" fmla="val 7576"/>
            </a:avLst>
          </a:prstGeom>
          <a:solidFill>
            <a:srgbClr val="FAEEDA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747" y="4380607"/>
            <a:ext cx="1726257" cy="19210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8365927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43000" y="8737402"/>
            <a:ext cx="388505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on warm cream. The default everywhere.</a:t>
            </a:r>
            <a:endParaRPr lang="en-US" sz="1725" dirty="0"/>
          </a:p>
        </p:txBody>
      </p:sp>
      <p:sp>
        <p:nvSpPr>
          <p:cNvPr id="8" name="Shape 5"/>
          <p:cNvSpPr/>
          <p:nvPr/>
        </p:nvSpPr>
        <p:spPr>
          <a:xfrm>
            <a:off x="5219700" y="2506861"/>
            <a:ext cx="3771900" cy="5668566"/>
          </a:xfrm>
          <a:prstGeom prst="roundRect">
            <a:avLst>
              <a:gd name="adj" fmla="val 7576"/>
            </a:avLst>
          </a:prstGeom>
          <a:solidFill>
            <a:srgbClr val="2B211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131" y="4375696"/>
            <a:ext cx="1735038" cy="19307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9700" y="8365927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Inverted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19700" y="8737402"/>
            <a:ext cx="388505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on warm dark. Single tone for contrast.</a:t>
            </a:r>
            <a:endParaRPr lang="en-US" sz="1725" dirty="0"/>
          </a:p>
        </p:txBody>
      </p:sp>
      <p:sp>
        <p:nvSpPr>
          <p:cNvPr id="12" name="Shape 8"/>
          <p:cNvSpPr/>
          <p:nvPr/>
        </p:nvSpPr>
        <p:spPr>
          <a:xfrm>
            <a:off x="9296400" y="2506861"/>
            <a:ext cx="3771900" cy="5986165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147" y="4539407"/>
            <a:ext cx="1726257" cy="19210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96400" y="8683526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white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9296400" y="9055001"/>
            <a:ext cx="414909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contracts, partner decks.</a:t>
            </a:r>
            <a:endParaRPr lang="en-US" sz="1725" dirty="0"/>
          </a:p>
        </p:txBody>
      </p:sp>
      <p:sp>
        <p:nvSpPr>
          <p:cNvPr id="16" name="Shape 11"/>
          <p:cNvSpPr/>
          <p:nvPr/>
        </p:nvSpPr>
        <p:spPr>
          <a:xfrm>
            <a:off x="13373100" y="2506861"/>
            <a:ext cx="3771900" cy="5668566"/>
          </a:xfrm>
          <a:prstGeom prst="roundRect">
            <a:avLst>
              <a:gd name="adj" fmla="val 7576"/>
            </a:avLst>
          </a:prstGeom>
          <a:solidFill>
            <a:srgbClr val="854F0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1531" y="4375696"/>
            <a:ext cx="1735038" cy="19307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73100" y="8365927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tone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3373100" y="8737402"/>
            <a:ext cx="388505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Stamps, embroidery, anything under 24px.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382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GROUNDS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143000" y="1457325"/>
            <a:ext cx="3695700" cy="6010275"/>
          </a:xfrm>
          <a:prstGeom prst="roundRect">
            <a:avLst>
              <a:gd name="adj" fmla="val 7216"/>
            </a:avLst>
          </a:prstGeom>
          <a:solidFill>
            <a:srgbClr val="D85A3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657" y="2899767"/>
            <a:ext cx="2808238" cy="31252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67300" y="1457325"/>
            <a:ext cx="3695700" cy="6010275"/>
          </a:xfrm>
          <a:prstGeom prst="roundRect">
            <a:avLst>
              <a:gd name="adj" fmla="val 7216"/>
            </a:avLst>
          </a:prstGeom>
          <a:solidFill>
            <a:srgbClr val="2B211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957" y="2899767"/>
            <a:ext cx="2808238" cy="312524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7696200"/>
            <a:ext cx="3695700" cy="6029325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657" y="9148167"/>
            <a:ext cx="2808238" cy="312524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67300" y="7696200"/>
            <a:ext cx="3695700" cy="6029325"/>
          </a:xfrm>
          <a:prstGeom prst="roundRect">
            <a:avLst>
              <a:gd name="adj" fmla="val 7216"/>
            </a:avLst>
          </a:prstGeom>
          <a:solidFill>
            <a:srgbClr val="2B2118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492" y="9143256"/>
            <a:ext cx="2817168" cy="31352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25000" y="914400"/>
            <a:ext cx="8382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9525000" y="1457325"/>
            <a:ext cx="3695700" cy="3859113"/>
          </a:xfrm>
          <a:prstGeom prst="roundRect">
            <a:avLst>
              <a:gd name="adj" fmla="val 7216"/>
            </a:avLst>
          </a:prstGeom>
          <a:solidFill>
            <a:srgbClr val="FAEEDA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59999">
            <a:off x="10601250" y="2529631"/>
            <a:ext cx="1543050" cy="1714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25000" y="5430738"/>
            <a:ext cx="40652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or tilt</a:t>
            </a:r>
            <a:endParaRPr lang="en-US" sz="1725" dirty="0"/>
          </a:p>
        </p:txBody>
      </p:sp>
      <p:sp>
        <p:nvSpPr>
          <p:cNvPr id="15" name="Shape 8"/>
          <p:cNvSpPr/>
          <p:nvPr/>
        </p:nvSpPr>
        <p:spPr>
          <a:xfrm>
            <a:off x="13449300" y="1457325"/>
            <a:ext cx="3695700" cy="3859113"/>
          </a:xfrm>
          <a:prstGeom prst="roundRect">
            <a:avLst>
              <a:gd name="adj" fmla="val 7216"/>
            </a:avLst>
          </a:prstGeom>
          <a:solidFill>
            <a:srgbClr val="FAEEDA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4185" y="2734121"/>
            <a:ext cx="2205930" cy="13055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449300" y="5430738"/>
            <a:ext cx="40652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or squash</a:t>
            </a:r>
            <a:endParaRPr lang="en-US" sz="1725" dirty="0"/>
          </a:p>
        </p:txBody>
      </p:sp>
      <p:sp>
        <p:nvSpPr>
          <p:cNvPr id="18" name="Shape 10"/>
          <p:cNvSpPr/>
          <p:nvPr/>
        </p:nvSpPr>
        <p:spPr>
          <a:xfrm>
            <a:off x="9525000" y="5897463"/>
            <a:ext cx="3695700" cy="3122712"/>
          </a:xfrm>
          <a:prstGeom prst="roundRect">
            <a:avLst>
              <a:gd name="adj" fmla="val 8541"/>
            </a:avLst>
          </a:prstGeom>
          <a:solidFill>
            <a:srgbClr val="1E7A5A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6711" y="6595170"/>
            <a:ext cx="1552129" cy="1727299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525000" y="9134475"/>
            <a:ext cx="40652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Off-brand grounds</a:t>
            </a:r>
            <a:endParaRPr lang="en-US" sz="1725" dirty="0"/>
          </a:p>
        </p:txBody>
      </p:sp>
      <p:sp>
        <p:nvSpPr>
          <p:cNvPr id="21" name="Shape 12"/>
          <p:cNvSpPr/>
          <p:nvPr/>
        </p:nvSpPr>
        <p:spPr>
          <a:xfrm>
            <a:off x="13449300" y="5897463"/>
            <a:ext cx="3695700" cy="3122712"/>
          </a:xfrm>
          <a:prstGeom prst="roundRect">
            <a:avLst>
              <a:gd name="adj" fmla="val 8541"/>
            </a:avLst>
          </a:prstGeom>
          <a:solidFill>
            <a:srgbClr val="FAEEDA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030" y="6599634"/>
            <a:ext cx="1544092" cy="171837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3449300" y="9134475"/>
            <a:ext cx="40652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B2118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 or glows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PALETTE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9700"/>
            <a:ext cx="176022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144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carries the page, coral does the pointing.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506861"/>
            <a:ext cx="3771900" cy="6865739"/>
          </a:xfrm>
          <a:prstGeom prst="roundRect">
            <a:avLst>
              <a:gd name="adj" fmla="val 7576"/>
            </a:avLst>
          </a:prstGeom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516386"/>
            <a:ext cx="3752850" cy="480670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7570738"/>
            <a:ext cx="3583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00175" y="8008888"/>
            <a:ext cx="3355277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2B211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#D85A30 216 90 48 C0 M71 Y85 K4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219700" y="2506861"/>
            <a:ext cx="3771900" cy="6865739"/>
          </a:xfrm>
          <a:prstGeom prst="roundRect">
            <a:avLst>
              <a:gd name="adj" fmla="val 7576"/>
            </a:avLst>
          </a:prstGeom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29225" y="2516386"/>
            <a:ext cx="3752850" cy="4806702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0" name="Text 8"/>
          <p:cNvSpPr/>
          <p:nvPr/>
        </p:nvSpPr>
        <p:spPr>
          <a:xfrm>
            <a:off x="5476875" y="7570738"/>
            <a:ext cx="3583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76875" y="8008888"/>
            <a:ext cx="3355277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2B211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#854F0B 133 79 11 C0 M41 Y92 K48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96400" y="2506861"/>
            <a:ext cx="3771900" cy="6865739"/>
          </a:xfrm>
          <a:prstGeom prst="roundRect">
            <a:avLst>
              <a:gd name="adj" fmla="val 7576"/>
            </a:avLst>
          </a:prstGeom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05925" y="2516386"/>
            <a:ext cx="3752850" cy="4806702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4" name="Shape 12"/>
          <p:cNvSpPr/>
          <p:nvPr/>
        </p:nvSpPr>
        <p:spPr>
          <a:xfrm>
            <a:off x="9305925" y="7313563"/>
            <a:ext cx="3752850" cy="9525"/>
          </a:xfrm>
          <a:prstGeom prst="rect">
            <a:avLst/>
          </a:prstGeom>
          <a:solidFill>
            <a:srgbClr val="2B2118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53575" y="7570738"/>
            <a:ext cx="3583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cream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53575" y="8008888"/>
            <a:ext cx="3355277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2B211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#FAEEDA 250 238 218 C0 M5 Y13 K2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73100" y="2506861"/>
            <a:ext cx="3771900" cy="6865739"/>
          </a:xfrm>
          <a:prstGeom prst="roundRect">
            <a:avLst>
              <a:gd name="adj" fmla="val 7576"/>
            </a:avLst>
          </a:prstGeom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382625" y="2516386"/>
            <a:ext cx="3752850" cy="4806702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9" name="Text 17"/>
          <p:cNvSpPr/>
          <p:nvPr/>
        </p:nvSpPr>
        <p:spPr>
          <a:xfrm>
            <a:off x="13630275" y="7570738"/>
            <a:ext cx="3583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dark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630275" y="8008888"/>
            <a:ext cx="3355277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2B211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#2B2118 43 33 24 C0 M23 Y44 K83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14675"/>
            <a:ext cx="82981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PROPORTION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143000" y="3657600"/>
            <a:ext cx="7543800" cy="1162050"/>
          </a:xfrm>
          <a:prstGeom prst="roundRect">
            <a:avLst>
              <a:gd name="adj" fmla="val 50000"/>
            </a:avLst>
          </a:prstGeom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525" y="3667125"/>
            <a:ext cx="5267325" cy="114300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5" name="Shape 3"/>
          <p:cNvSpPr/>
          <p:nvPr/>
        </p:nvSpPr>
        <p:spPr>
          <a:xfrm>
            <a:off x="6419850" y="3667125"/>
            <a:ext cx="1354485" cy="1143000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6" name="Shape 4"/>
          <p:cNvSpPr/>
          <p:nvPr/>
        </p:nvSpPr>
        <p:spPr>
          <a:xfrm>
            <a:off x="7774335" y="3667125"/>
            <a:ext cx="602010" cy="11430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Shape 5"/>
          <p:cNvSpPr/>
          <p:nvPr/>
        </p:nvSpPr>
        <p:spPr>
          <a:xfrm>
            <a:off x="8376345" y="3667125"/>
            <a:ext cx="300930" cy="11430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953000"/>
            <a:ext cx="543898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11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cream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23571" y="4953000"/>
            <a:ext cx="143410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11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dark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81479" y="4953000"/>
            <a:ext cx="98152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11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accents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5886450"/>
            <a:ext cx="438479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B211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layout feels cold, the fix is almost always more cream, not more coral.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01200" y="3195638"/>
            <a:ext cx="82981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TEXT PAIRINGS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01200" y="3738563"/>
            <a:ext cx="7543800" cy="733425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34575" y="3957638"/>
            <a:ext cx="68103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on cream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125825" y="3976687"/>
            <a:ext cx="7620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B211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13.9:1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0" y="4624388"/>
            <a:ext cx="7543800" cy="714375"/>
          </a:xfrm>
          <a:prstGeom prst="roundRect">
            <a:avLst>
              <a:gd name="adj" fmla="val 50000"/>
            </a:avLst>
          </a:prstGeom>
          <a:solidFill>
            <a:srgbClr val="2B2118"/>
          </a:solidFill>
          <a:ln/>
        </p:spPr>
      </p:sp>
      <p:sp>
        <p:nvSpPr>
          <p:cNvPr id="17" name="Text 15"/>
          <p:cNvSpPr/>
          <p:nvPr/>
        </p:nvSpPr>
        <p:spPr>
          <a:xfrm>
            <a:off x="9925050" y="4833938"/>
            <a:ext cx="6831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on dark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135350" y="4852988"/>
            <a:ext cx="7620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EED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13.9:1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0" y="5491163"/>
            <a:ext cx="7543800" cy="733425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4575" y="5710238"/>
            <a:ext cx="6936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on cream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240125" y="5729288"/>
            <a:ext cx="647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B211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6.0:1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6376988"/>
            <a:ext cx="7543800" cy="714375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/>
        </p:spPr>
      </p:sp>
      <p:sp>
        <p:nvSpPr>
          <p:cNvPr id="23" name="Text 21"/>
          <p:cNvSpPr/>
          <p:nvPr/>
        </p:nvSpPr>
        <p:spPr>
          <a:xfrm>
            <a:off x="9925050" y="6586538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on coral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878050" y="6605588"/>
            <a:ext cx="21374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3.9:1, large only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TYPOGRAPHY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600200"/>
            <a:ext cx="16002000" cy="9525"/>
          </a:xfrm>
          <a:prstGeom prst="rect">
            <a:avLst/>
          </a:prstGeom>
          <a:solidFill>
            <a:srgbClr val="2B211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933575"/>
            <a:ext cx="316322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Newsreader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04365" y="2162175"/>
            <a:ext cx="53246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WORDMARK AND HEADINGS, 300 TO 500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2657475"/>
            <a:ext cx="16482060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05"/>
              </a:lnSpc>
              <a:buNone/>
            </a:pPr>
            <a:r>
              <a:rPr lang="en-US" sz="8100" b="1" spc="-243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 abcdefghijk 0123456789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143000" y="5008066"/>
            <a:ext cx="106247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118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without being decorative. The inky quality of something set to be read, which is the register we want: a company that writes to you, not at you.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6198691"/>
            <a:ext cx="16002000" cy="9525"/>
          </a:xfrm>
          <a:prstGeom prst="rect">
            <a:avLst/>
          </a:prstGeom>
          <a:solidFill>
            <a:srgbClr val="2B2118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6532066"/>
            <a:ext cx="24327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36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Sans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450961" y="6693991"/>
            <a:ext cx="51634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BODY, UI, AND LABELS, 300 TO 600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7179766"/>
            <a:ext cx="176022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6300" spc="-63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 abcdefghijk 0123456789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1143000" y="8250287"/>
            <a:ext cx="106247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118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humanist sans with open proportions. Clean at small sizes without the flat neutrality of a default tech sans.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04492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DISPLAY, NEWSREADER 400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2975967"/>
            <a:ext cx="7770114" cy="156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878"/>
              </a:lnSpc>
              <a:buNone/>
            </a:pPr>
            <a:r>
              <a:rPr lang="en-US" sz="6150" b="1" spc="-184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customer again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4925913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HEAD, NEWSREADER 400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5297388"/>
            <a:ext cx="829818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58"/>
              </a:lnSpc>
              <a:buNone/>
            </a:pPr>
            <a:r>
              <a:rPr lang="en-US" sz="405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does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43000" y="6282184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LEAD, NEWSREADER ITALIC 300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6653659"/>
            <a:ext cx="777011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it up, we run it, you get the calls answered.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0" y="2969419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BODY, WORK SANS 400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0" y="3340894"/>
            <a:ext cx="77701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rings while you are under a car, in a consult, or teaching a lesson. Vangst picks up, answers the question, and books the appointment, in the language the caller used.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01200" y="5088731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SMALL, WORK SANS 400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0" y="5460206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GDPR-first by design. Your data stays in the EU, and the AI says it is an AI at the start of every conversation.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01200" y="6622256"/>
            <a:ext cx="8298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LABEL, IBM PLEX MONO 500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0" y="6993731"/>
            <a:ext cx="82981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NEDERLANDS, FRANÇAIS, ENGLISH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VOICE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97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851"/>
              </a:lnSpc>
              <a:buNone/>
            </a:pPr>
            <a:r>
              <a:rPr lang="en-US" sz="5400" b="1" spc="-162" kern="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the way you would say it out loud.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6930"/>
            <a:ext cx="16002000" cy="6785670"/>
          </a:xfrm>
          <a:prstGeom prst="roundRect">
            <a:avLst>
              <a:gd name="adj" fmla="val 4773"/>
            </a:avLst>
          </a:prstGeom>
          <a:solidFill>
            <a:srgbClr val="FAEEDA">
              <a:alpha val="20000"/>
            </a:srgbClr>
          </a:solidFill>
          <a:ln w="9525">
            <a:solidFill>
              <a:srgbClr val="FAEED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596455"/>
            <a:ext cx="3683943" cy="862757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2786955"/>
            <a:ext cx="3299161" cy="51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AEEDA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5993" y="2596455"/>
            <a:ext cx="6139904" cy="862757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8" name="Text 6"/>
          <p:cNvSpPr/>
          <p:nvPr/>
        </p:nvSpPr>
        <p:spPr>
          <a:xfrm>
            <a:off x="5093643" y="2786955"/>
            <a:ext cx="5828801" cy="51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AEEDA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THIS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95422" y="2596455"/>
            <a:ext cx="6140053" cy="862757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0" name="Text 8"/>
          <p:cNvSpPr/>
          <p:nvPr/>
        </p:nvSpPr>
        <p:spPr>
          <a:xfrm>
            <a:off x="11243072" y="2786955"/>
            <a:ext cx="5828955" cy="51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52525" y="3468737"/>
            <a:ext cx="368394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2" name="Text 10"/>
          <p:cNvSpPr/>
          <p:nvPr/>
        </p:nvSpPr>
        <p:spPr>
          <a:xfrm>
            <a:off x="1400175" y="3716387"/>
            <a:ext cx="329916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EED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headline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45993" y="3468737"/>
            <a:ext cx="6139904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643" y="3716387"/>
            <a:ext cx="582880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strike="sngStrike" dirty="0">
                <a:solidFill>
                  <a:srgbClr val="FAEED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customer engagement solutions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95422" y="3468737"/>
            <a:ext cx="614005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3072" y="3716387"/>
            <a:ext cx="5828955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done-for-you front desk that never misses a customer.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52525" y="4944666"/>
            <a:ext cx="368394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00175" y="5192316"/>
            <a:ext cx="329916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EED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845993" y="4944666"/>
            <a:ext cx="6139904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20" name="Text 18"/>
          <p:cNvSpPr/>
          <p:nvPr/>
        </p:nvSpPr>
        <p:spPr>
          <a:xfrm>
            <a:off x="5093643" y="5192316"/>
            <a:ext cx="582880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strike="sngStrike" dirty="0">
                <a:solidFill>
                  <a:srgbClr val="FAEED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regret to inform you your call was not answered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995422" y="4944666"/>
            <a:ext cx="614005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3072" y="5192316"/>
            <a:ext cx="5828955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Sorry we missed you, here is when we are free.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52525" y="6420594"/>
            <a:ext cx="368394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24" name="Text 22"/>
          <p:cNvSpPr/>
          <p:nvPr/>
        </p:nvSpPr>
        <p:spPr>
          <a:xfrm>
            <a:off x="1400175" y="6668244"/>
            <a:ext cx="329916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EED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845993" y="6420594"/>
            <a:ext cx="6139904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26" name="Text 24"/>
          <p:cNvSpPr/>
          <p:nvPr/>
        </p:nvSpPr>
        <p:spPr>
          <a:xfrm>
            <a:off x="5093643" y="6668244"/>
            <a:ext cx="5828801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strike="sngStrike" dirty="0">
                <a:solidFill>
                  <a:srgbClr val="FAEED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automated reminder of your scheduled appointment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995422" y="6420594"/>
            <a:ext cx="6140053" cy="1466404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3072" y="6668244"/>
            <a:ext cx="5828955" cy="1009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Hey, just a heads up, you have got an appointment tomorrow at 2.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152525" y="7896523"/>
            <a:ext cx="3683943" cy="1466552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30" name="Text 28"/>
          <p:cNvSpPr/>
          <p:nvPr/>
        </p:nvSpPr>
        <p:spPr>
          <a:xfrm>
            <a:off x="1400175" y="8144173"/>
            <a:ext cx="3299161" cy="100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EED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845993" y="7896523"/>
            <a:ext cx="6139904" cy="1466552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32" name="Text 30"/>
          <p:cNvSpPr/>
          <p:nvPr/>
        </p:nvSpPr>
        <p:spPr>
          <a:xfrm>
            <a:off x="5093643" y="8144173"/>
            <a:ext cx="5828801" cy="100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strike="sngStrike" dirty="0">
                <a:solidFill>
                  <a:srgbClr val="FAEED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like to schedule a consultation to discuss synergies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995422" y="7896523"/>
            <a:ext cx="6140053" cy="1466552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34" name="Text 32"/>
          <p:cNvSpPr/>
          <p:nvPr/>
        </p:nvSpPr>
        <p:spPr>
          <a:xfrm>
            <a:off x="11243072" y="8144173"/>
            <a:ext cx="5828955" cy="100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show you what this looks like for your business? Ten minutes, no pressure.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476774"/>
            <a:ext cx="5364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981599"/>
            <a:ext cx="5023104" cy="2300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33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done-for-you, we set it up, your front desk, never misses a customer, trilingual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705600" y="3476774"/>
            <a:ext cx="5364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705600" y="3981599"/>
            <a:ext cx="5023104" cy="2866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3300" b="1" dirty="0">
                <a:solidFill>
                  <a:srgbClr val="FAEED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seamless, synergy, solutions, leverage, cutting-edge, revolutionize, game-changer, utilize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268200" y="3476774"/>
            <a:ext cx="5364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268200" y="3981599"/>
            <a:ext cx="502310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FAEED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 dashes. Sentence case headings. Oxford comma. No emoji. Informal "je" in Dutch, except with government and notaries.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APPLICATIONS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9700"/>
            <a:ext cx="176022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144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at every size it has to survive.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506861"/>
            <a:ext cx="16002000" cy="6865739"/>
          </a:xfrm>
          <a:prstGeom prst="roundRect">
            <a:avLst>
              <a:gd name="adj" fmla="val 4994"/>
            </a:avLst>
          </a:prstGeom>
          <a:solidFill>
            <a:srgbClr val="FFF7EC"/>
          </a:solidFill>
          <a:ln w="9525">
            <a:solidFill>
              <a:srgbClr val="2B2118">
                <a:alpha val="14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8172450"/>
            <a:ext cx="152400" cy="15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2125" y="8496300"/>
            <a:ext cx="304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8020050"/>
            <a:ext cx="3048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38425" y="8496300"/>
            <a:ext cx="304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7715250"/>
            <a:ext cx="609600" cy="609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05225" y="8496300"/>
            <a:ext cx="304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25" y="7105650"/>
            <a:ext cx="1219200" cy="1219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72075" y="8496300"/>
            <a:ext cx="419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6038850"/>
            <a:ext cx="2286000" cy="2286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34275" y="8496300"/>
            <a:ext cx="419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9458325" y="7267575"/>
            <a:ext cx="4969451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radius stays at 22 percent of the tile. At 16 and 24px, ship the single-tone coral mark, the two-tone split disappears at that scale anyway.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EE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9627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AVATAR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143000" y="1495425"/>
            <a:ext cx="1924050" cy="1924050"/>
          </a:xfrm>
          <a:prstGeom prst="ellipse">
            <a:avLst/>
          </a:prstGeom>
          <a:solidFill>
            <a:srgbClr val="FAEEDA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725" y="1906191"/>
            <a:ext cx="990600" cy="11023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09950" y="1514475"/>
            <a:ext cx="1905000" cy="1905000"/>
          </a:xfrm>
          <a:prstGeom prst="roundRect">
            <a:avLst>
              <a:gd name="adj" fmla="val 14000"/>
            </a:avLst>
          </a:prstGeom>
          <a:solidFill>
            <a:srgbClr val="2B211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1915716"/>
            <a:ext cx="990600" cy="11023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762375"/>
            <a:ext cx="1905000" cy="1905000"/>
          </a:xfrm>
          <a:prstGeom prst="roundRect">
            <a:avLst>
              <a:gd name="adj" fmla="val 14000"/>
            </a:avLst>
          </a:prstGeom>
          <a:solidFill>
            <a:srgbClr val="D85A30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163616"/>
            <a:ext cx="990600" cy="110237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390900" y="4962525"/>
            <a:ext cx="704850" cy="704850"/>
          </a:xfrm>
          <a:prstGeom prst="ellipse">
            <a:avLst/>
          </a:prstGeom>
          <a:solidFill>
            <a:srgbClr val="FAEEDA"/>
          </a:solidFill>
          <a:ln w="9525">
            <a:solidFill>
              <a:srgbClr val="2B2118">
                <a:alpha val="16000"/>
              </a:srgbClr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183" y="5108972"/>
            <a:ext cx="370284" cy="4119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6048375"/>
            <a:ext cx="46469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is the default avatar. Coral is reserved for campaign periods.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416576" y="914400"/>
            <a:ext cx="118012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CARD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416576" y="1495425"/>
            <a:ext cx="5192762" cy="2967186"/>
          </a:xfrm>
          <a:prstGeom prst="roundRect">
            <a:avLst>
              <a:gd name="adj" fmla="val 8346"/>
            </a:avLst>
          </a:prstGeom>
          <a:solidFill>
            <a:srgbClr val="FFF7EC"/>
          </a:solidFill>
          <a:ln/>
          <a:effectLst>
            <a:outerShdw sx="100000" sy="100000" kx="0" ky="0" algn="bl" rotWithShape="0" blurRad="419100" dist="209550" dir="5400000">
              <a:srgbClr val="2B2118">
                <a:alpha val="18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476" y="1838325"/>
            <a:ext cx="599033" cy="666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59476" y="3281511"/>
            <a:ext cx="49576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spc="-126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Vangst</a:t>
            </a:r>
            <a:endParaRPr lang="en-US" sz="4200" dirty="0"/>
          </a:p>
        </p:txBody>
      </p:sp>
      <p:sp>
        <p:nvSpPr>
          <p:cNvPr id="16" name="Text 9"/>
          <p:cNvSpPr/>
          <p:nvPr/>
        </p:nvSpPr>
        <p:spPr>
          <a:xfrm>
            <a:off x="6759476" y="3929211"/>
            <a:ext cx="49576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NOOIT MEER EEN KLANT GEMIST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11952238" y="1495425"/>
            <a:ext cx="5192762" cy="2967186"/>
          </a:xfrm>
          <a:prstGeom prst="roundRect">
            <a:avLst>
              <a:gd name="adj" fmla="val 8346"/>
            </a:avLst>
          </a:prstGeom>
          <a:solidFill>
            <a:srgbClr val="2B2118"/>
          </a:solidFill>
          <a:ln/>
          <a:effectLst>
            <a:outerShdw sx="100000" sy="100000" kx="0" ky="0" algn="bl" rotWithShape="0" blurRad="419100" dist="209550" dir="5400000">
              <a:srgbClr val="2B2118">
                <a:alpha val="18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12295138" y="1838325"/>
            <a:ext cx="2124968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7"/>
              </a:lnSpc>
              <a:buNone/>
            </a:pPr>
            <a:r>
              <a:rPr lang="en-US" sz="255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Waqar Azmat</a:t>
            </a:r>
            <a:endParaRPr lang="en-US" sz="2550" dirty="0"/>
          </a:p>
        </p:txBody>
      </p:sp>
      <p:sp>
        <p:nvSpPr>
          <p:cNvPr id="19" name="Text 12"/>
          <p:cNvSpPr/>
          <p:nvPr/>
        </p:nvSpPr>
        <p:spPr>
          <a:xfrm>
            <a:off x="12295138" y="2251621"/>
            <a:ext cx="21249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EEDA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5565" y="1838325"/>
            <a:ext cx="376535" cy="4191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295138" y="3142804"/>
            <a:ext cx="4642171" cy="36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000"/>
              </a:lnSpc>
              <a:buNone/>
            </a:pPr>
            <a:r>
              <a:rPr lang="en-US" sz="1350" dirty="0">
                <a:solidFill>
                  <a:srgbClr val="FAE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waqar@vangst.be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12295138" y="3468439"/>
            <a:ext cx="4642171" cy="36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000"/>
              </a:lnSpc>
              <a:buNone/>
            </a:pPr>
            <a:r>
              <a:rPr lang="en-US" sz="1350" dirty="0">
                <a:solidFill>
                  <a:srgbClr val="FAE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+32 470 00 00 00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12295138" y="3794075"/>
            <a:ext cx="4642171" cy="36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000"/>
              </a:lnSpc>
              <a:buNone/>
            </a:pPr>
            <a:r>
              <a:rPr lang="en-US" sz="135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vangst.be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416576" y="4767411"/>
            <a:ext cx="70156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2B211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by 55mm, uncoated warm stock. Cream front, warm dark back, one coral line for the URL.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5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5303639"/>
            <a:ext cx="1369368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7361039"/>
            <a:ext cx="9428437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647"/>
              </a:lnSpc>
              <a:buNone/>
            </a:pPr>
            <a:r>
              <a:rPr lang="en-US" sz="7200" b="1" dirty="0">
                <a:solidFill>
                  <a:srgbClr val="FAE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 doubt, make it warmer and say less.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13670002" y="8115300"/>
            <a:ext cx="34749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6000"/>
              </a:lnSpc>
              <a:buNone/>
            </a:pPr>
            <a:r>
              <a:rPr lang="en-US" sz="1650" spc="165" kern="0" dirty="0">
                <a:solidFill>
                  <a:srgbClr val="FAEED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VANGST BRAND SYSTEM, V1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670002" y="8534400"/>
            <a:ext cx="34749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6000"/>
              </a:lnSpc>
              <a:buNone/>
            </a:pPr>
            <a:r>
              <a:rPr lang="en-US" sz="1650" spc="165" kern="0" dirty="0">
                <a:solidFill>
                  <a:srgbClr val="FAEED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670002" y="8953500"/>
            <a:ext cx="34749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6000"/>
              </a:lnSpc>
              <a:buNone/>
            </a:pPr>
            <a:r>
              <a:rPr lang="en-US" sz="1650" spc="165" kern="0" dirty="0">
                <a:solidFill>
                  <a:srgbClr val="FAEED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BRAND@VANGST.BE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2026-09-15T09:02:03Z</dcterms:created>
  <dcterms:modified xsi:type="dcterms:W3CDTF">2026-09-15T09:02:03Z</dcterms:modified>
</cp:coreProperties>
</file>